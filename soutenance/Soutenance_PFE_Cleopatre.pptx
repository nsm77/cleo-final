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Bonjour. Je vais vous présenter mon Projet de Fin d'Études : la conception et la réalisation d'une plateforme e-commerce complète pour la parapharmacie Cléopâtre, conduite en méthode Scrum. Durée prévue : 15 minutes, suivies de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 exposé suit cinq temps : le contexte, la solution et la méthode, la réalisation sprint par sprint, les garanties de sécurité, puis le bilan et les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Cléopâtre, Espace Santé Beauté : deux boutiques à Ezzahra et Hammam-Lif, 80 références, positionnement conseil. Mais aucun canal digital : pas de catalogue à distance, pas de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problèmes critiques, du manque à gagner à l'impossibilité de piloter. Face à l'ancien site vitrine, la direction a tranché : pas d'évolution, une reconstruction totale. Le comparatif avant-après est documenté en Annexe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solution : une plateforme intégrée, une seule base de données, deux visages. Côté public, un site marchand raffiné. Côté privé, un back-office qui outille les trois missions : avant-vente, vente, après-vente.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Méthode Scrum : un sprint 0 de cadrage, puis deux releases de deux sprints de deux semaines. Chaque sprint se termine par une démonstration réelle à la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acteurs aux droits cumulatifs, huit domaines fonctionnels, 24 récits utilisateurs chiffrés et planifiés. Les exigences non fonctionnelles — sécurité, fiabilité — irriguent tous les sprints.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JavaScript moderne : Next.js et React pour le full-stack, TypeScript strict, PostgreSQL via Drizzle, validation Zod systématique, hachage scrypt, conteneurisation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en couches : présentation, actions serveur validées, services métier, base unique. Vitrine et back-office partagent les mêmes règles : un seul socle de vérité.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modèle consolidé : 24 tables, 10 énumérations. Les règles d'intégrité vivent dans la base, pas seulement dans le code : montants entiers en millimes, unicités, cascades,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Sprint 1, le socle : authentification avec scrypt et sessions opaques, hiérarchie des rôles garantie par des gardes serveur, tableau de bord avec file d'attention.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Sprint 2, le commerce : 81 fiches produits, tunnel de commande en quatre étapes, idempotence anti-double-clic, machine à états des commandes, suivi client en langage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Sprint 3, la relation client : avis modérés avec réponse de la maison, note moyenne recalculée en transaction, réclamations avec délai contractuel de 24 heures.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Sprint 4, la finition : recherche instantanée multilingue analysée, journal de conseils, conteneurisation Docker et seed complet pour des recettes reproductibles.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preuve de la refonte : à gauche l'ancien site vitrine, à droite la plateforme livrée. Même page, même maison — tout le reste a changé. Le rapport documente six paires en Annexe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garanties structurent toute la réalisation : argent exact, secrets protégés, accès contrôlés, stocks sûrs, commandes idempotentes, traçabilité complète. Chacune est démontrée dans le rapport, code à l'appui.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: les 24 récits sont terminés et démontrés, la recette tourne sous Docker, le rapport fait 104 pages. Personnellement : autonomie full-stack, rigueur Scrum, et l'exigence d'écrire un code que l'on peut expliquer au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Passons à la démonstration en direct : six minutes, trois actes — acheter, piloter, rassurer. Le QR et les comptes de recette sont affichés. En cas de réseau capricieux, les captures du rapport prennent le relais.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Conclure : remercier le jury, rappeler les perspectives — paiement en ligne, version arabe, recommandation — et ouvrir aux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Secours : si le jury questionne les transitions — 7 statuts, transitions verrouillées en base, effets idempotents (paiement COD, fidélité, réassort).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Secours : si le jury creuse la sécurité — scrypt salé, sessions opaques 256 bits en cookie httpOnly, gardes serveur cumulatifs, anti-brute-force et anti-énumération.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Secours : si le jury veut le modèle complet — 10 tables autonomes reliées à la release 1, 24 tables et 10 énumérations au total, dictionnaire en Annexe B du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Secours : si le jury questionne l'exploitation — conteneurs web + base, variables d'environnement, seed de démonstration, sauvegardes pg_dump, guide en Annexe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FRAME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5400">
            <a:solidFill>
              <a:srgbClr val="C9A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FRAME"/>
          <p:cNvSpPr/>
          <p:nvPr/>
        </p:nvSpPr>
        <p:spPr>
          <a:xfrm>
            <a:off x="237744" y="237744"/>
            <a:ext cx="11716207" cy="6382512"/>
          </a:xfrm>
          <a:prstGeom prst="rect">
            <a:avLst/>
          </a:prstGeom>
          <a:noFill/>
          <a:ln w="9525">
            <a:solidFill>
              <a:srgbClr val="C9A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!!LOGO" descr="fig01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847164"/>
            <a:ext cx="1371600" cy="1048870"/>
          </a:xfrm>
          <a:prstGeom prst="roundRect">
            <a:avLst>
              <a:gd name="adj" fmla="val 9000"/>
            </a:avLst>
          </a:prstGeom>
        </p:spPr>
      </p:pic>
      <p:sp>
        <p:nvSpPr>
          <p:cNvPr id="6" name="!!EYE"/>
          <p:cNvSpPr txBox="1"/>
          <p:nvPr/>
        </p:nvSpPr>
        <p:spPr>
          <a:xfrm>
            <a:off x="914400" y="224028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C9A959"/>
                </a:solidFill>
                <a:latin typeface="Calibri"/>
              </a:rPr>
              <a:t>RAPPORT DE PROJET DE FIN D'ÉTUDES  ·  SOUTENANCE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914400" y="269748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 i="0">
                <a:solidFill>
                  <a:srgbClr val="F3ECDD"/>
                </a:solidFill>
                <a:latin typeface="Georgia"/>
              </a:rPr>
              <a:t>Conception et réalisation d'une</a:t>
            </a:r>
            <a:br/>
            <a:r>
              <a:rPr sz="3600" b="1" i="0">
                <a:solidFill>
                  <a:srgbClr val="F3ECDD"/>
                </a:solidFill>
                <a:latin typeface="Georgia"/>
              </a:rPr>
              <a:t>plateforme e-commerce</a:t>
            </a:r>
            <a:br/>
            <a:r>
              <a:rPr sz="3600" b="1" i="0">
                <a:solidFill>
                  <a:srgbClr val="F3ECDD"/>
                </a:solidFill>
                <a:latin typeface="Georgia"/>
              </a:rPr>
              <a:t>pour la parapharmacie Cléopâtre</a:t>
            </a:r>
          </a:p>
        </p:txBody>
      </p:sp>
      <p:sp>
        <p:nvSpPr>
          <p:cNvPr id="8" name="!!RULE"/>
          <p:cNvSpPr/>
          <p:nvPr/>
        </p:nvSpPr>
        <p:spPr>
          <a:xfrm>
            <a:off x="5641848" y="4434840"/>
            <a:ext cx="91440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3601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 i="0">
                <a:solidFill>
                  <a:srgbClr val="F3ECDD"/>
                </a:solidFill>
                <a:latin typeface="Calibri"/>
              </a:rPr>
              <a:t>[Nom Prénom de l'étudiant(e)]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B9AC93"/>
                </a:solidFill>
                <a:latin typeface="Calibri"/>
              </a:rPr>
              <a:t>Encadrant académique : [Nom — Grade]      Encadrant professionnel : [Nom — Cléopâtre]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B9AC93"/>
                </a:solidFill>
                <a:latin typeface="Calibri"/>
              </a:rPr>
              <a:t>[Établissement]  ·  Année [20XX–20XX]  ·  [JJ/MM/AAAA]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SOUTENANCE  ·  PLAN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Cinq temps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0"/>
          <p:cNvSpPr/>
          <p:nvPr/>
        </p:nvSpPr>
        <p:spPr>
          <a:xfrm>
            <a:off x="2103120" y="1874519"/>
            <a:ext cx="7982712" cy="804672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947672"/>
            <a:ext cx="914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C9A959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29384"/>
            <a:ext cx="64008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F3ECDD"/>
                </a:solidFill>
                <a:latin typeface="Calibri"/>
              </a:rPr>
              <a:t>Contexte &amp; problématique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La maison, l'existant, la refonte totale</a:t>
            </a:r>
          </a:p>
        </p:txBody>
      </p:sp>
      <p:sp>
        <p:nvSpPr>
          <p:cNvPr id="9" name="PLAN1"/>
          <p:cNvSpPr/>
          <p:nvPr/>
        </p:nvSpPr>
        <p:spPr>
          <a:xfrm>
            <a:off x="2103120" y="2807208"/>
            <a:ext cx="7982712" cy="804672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880360"/>
            <a:ext cx="914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C9A959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62072"/>
            <a:ext cx="64008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F3ECDD"/>
                </a:solidFill>
                <a:latin typeface="Calibri"/>
              </a:rPr>
              <a:t>Solution &amp; méthode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Périmètre, Scrum, acteurs, technologies</a:t>
            </a:r>
          </a:p>
        </p:txBody>
      </p:sp>
      <p:sp>
        <p:nvSpPr>
          <p:cNvPr id="12" name="PLAN2"/>
          <p:cNvSpPr/>
          <p:nvPr/>
        </p:nvSpPr>
        <p:spPr>
          <a:xfrm>
            <a:off x="2103120" y="3739896"/>
            <a:ext cx="7982712" cy="804672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3813048"/>
            <a:ext cx="914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C9A959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94759"/>
            <a:ext cx="64008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F3ECDD"/>
                </a:solidFill>
                <a:latin typeface="Calibri"/>
              </a:rPr>
              <a:t>Réalisation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Sprints 1 à 4 : socle, commerce, relation client, finition</a:t>
            </a:r>
          </a:p>
        </p:txBody>
      </p:sp>
      <p:sp>
        <p:nvSpPr>
          <p:cNvPr id="15" name="PLAN3"/>
          <p:cNvSpPr/>
          <p:nvPr/>
        </p:nvSpPr>
        <p:spPr>
          <a:xfrm>
            <a:off x="2103120" y="4672583"/>
            <a:ext cx="7982712" cy="804672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4745736"/>
            <a:ext cx="914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C9A959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727447"/>
            <a:ext cx="64008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F3ECDD"/>
                </a:solidFill>
                <a:latin typeface="Calibri"/>
              </a:rPr>
              <a:t>Sécurité &amp; fiabilité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Les 6 garanties non négociables</a:t>
            </a:r>
          </a:p>
        </p:txBody>
      </p:sp>
      <p:sp>
        <p:nvSpPr>
          <p:cNvPr id="18" name="PLAN4"/>
          <p:cNvSpPr/>
          <p:nvPr/>
        </p:nvSpPr>
        <p:spPr>
          <a:xfrm>
            <a:off x="2103120" y="5605272"/>
            <a:ext cx="7982712" cy="804672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5678424"/>
            <a:ext cx="914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C9A959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660136"/>
            <a:ext cx="64008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F3ECDD"/>
                </a:solidFill>
                <a:latin typeface="Calibri"/>
              </a:rPr>
              <a:t>Bilan &amp; perspectives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Chiffres, démonstration, trajectoire</a:t>
            </a:r>
          </a:p>
        </p:txBody>
      </p:sp>
      <p:sp>
        <p:nvSpPr>
          <p:cNvPr id="21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22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01  ·  CONTEXTE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La maison Cléopâtre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01</a:t>
            </a:r>
          </a:p>
        </p:txBody>
      </p:sp>
      <p:pic>
        <p:nvPicPr>
          <p:cNvPr id="7" name="!!LOGO" descr="fig01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56908"/>
            <a:ext cx="2011680" cy="1538343"/>
          </a:xfrm>
          <a:prstGeom prst="roundRect">
            <a:avLst>
              <a:gd name="adj" fmla="val 9000"/>
            </a:avLst>
          </a:prstGeom>
        </p:spPr>
      </p:pic>
      <p:sp>
        <p:nvSpPr>
          <p:cNvPr id="8" name="CTX0"/>
          <p:cNvSpPr/>
          <p:nvPr/>
        </p:nvSpPr>
        <p:spPr>
          <a:xfrm>
            <a:off x="3017520" y="1965960"/>
            <a:ext cx="2651760" cy="237744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103120"/>
            <a:ext cx="21945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C9A959"/>
                </a:solidFill>
                <a:latin typeface="Georgia"/>
              </a:rPr>
              <a:t>2</a:t>
            </a:r>
          </a:p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3ECDD"/>
                </a:solidFill>
                <a:latin typeface="Calibri"/>
              </a:rPr>
              <a:t>boutiques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Ezzahra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Hammam-Lif</a:t>
            </a:r>
          </a:p>
        </p:txBody>
      </p:sp>
      <p:sp>
        <p:nvSpPr>
          <p:cNvPr id="10" name="CTX1"/>
          <p:cNvSpPr/>
          <p:nvPr/>
        </p:nvSpPr>
        <p:spPr>
          <a:xfrm>
            <a:off x="5943600" y="1965960"/>
            <a:ext cx="2651760" cy="237744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103120"/>
            <a:ext cx="21945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C9A959"/>
                </a:solidFill>
                <a:latin typeface="Georgia"/>
              </a:rPr>
              <a:t>80</a:t>
            </a:r>
          </a:p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3ECDD"/>
                </a:solidFill>
                <a:latin typeface="Calibri"/>
              </a:rPr>
              <a:t>références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7 univers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15 marques</a:t>
            </a:r>
          </a:p>
        </p:txBody>
      </p:sp>
      <p:sp>
        <p:nvSpPr>
          <p:cNvPr id="12" name="CTX2"/>
          <p:cNvSpPr/>
          <p:nvPr/>
        </p:nvSpPr>
        <p:spPr>
          <a:xfrm>
            <a:off x="8869680" y="1965960"/>
            <a:ext cx="2651760" cy="237744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103120"/>
            <a:ext cx="21945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C9A959"/>
                </a:solidFill>
                <a:latin typeface="Georgia"/>
              </a:rPr>
              <a:t>0</a:t>
            </a:r>
          </a:p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3ECDD"/>
                </a:solidFill>
                <a:latin typeface="Calibri"/>
              </a:rPr>
              <a:t>canal digital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ni site marchand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ni 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B9AC93"/>
                </a:solidFill>
                <a:latin typeface="Calibri"/>
              </a:rPr>
              <a:t>Positionnement : le conseil pharmaceutique exigeant — écoute, diagnostic, recommandation.</a:t>
            </a:r>
            <a:br/>
            <a:r>
              <a:rPr sz="1600" b="0" i="0">
                <a:solidFill>
                  <a:srgbClr val="B9AC93"/>
                </a:solidFill>
                <a:latin typeface="Calibri"/>
              </a:rPr>
              <a:t>Réputation locale excellente, mais clientèle exclusivement « physique ».</a:t>
            </a:r>
          </a:p>
        </p:txBody>
      </p:sp>
      <p:sp>
        <p:nvSpPr>
          <p:cNvPr id="15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6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01  ·  PROBLÉMATIQUE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Quatre problèmes, une décision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01</a:t>
            </a:r>
          </a:p>
        </p:txBody>
      </p:sp>
      <p:sp>
        <p:nvSpPr>
          <p:cNvPr id="7" name="PB0"/>
          <p:cNvSpPr/>
          <p:nvPr/>
        </p:nvSpPr>
        <p:spPr>
          <a:xfrm>
            <a:off x="640080" y="1874519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2240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C9A959"/>
                </a:solidFill>
                <a:latin typeface="Calibri"/>
              </a:rPr>
              <a:t>Perte de CA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Invisible sur Google :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les prospects achètent ailleurs.</a:t>
            </a:r>
          </a:p>
        </p:txBody>
      </p:sp>
      <p:sp>
        <p:nvSpPr>
          <p:cNvPr id="9" name="PB1"/>
          <p:cNvSpPr/>
          <p:nvPr/>
        </p:nvSpPr>
        <p:spPr>
          <a:xfrm>
            <a:off x="3429000" y="1874519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011680"/>
            <a:ext cx="2240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C9A959"/>
                </a:solidFill>
                <a:latin typeface="Calibri"/>
              </a:rPr>
              <a:t>Stocks à l'aveugle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Ruptures découvertes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au moment de la vente.</a:t>
            </a:r>
          </a:p>
        </p:txBody>
      </p:sp>
      <p:sp>
        <p:nvSpPr>
          <p:cNvPr id="11" name="PB2"/>
          <p:cNvSpPr/>
          <p:nvPr/>
        </p:nvSpPr>
        <p:spPr>
          <a:xfrm>
            <a:off x="6217920" y="1874519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2240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C9A959"/>
                </a:solidFill>
                <a:latin typeface="Calibri"/>
              </a:rPr>
              <a:t>Processus non tracés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Commandes, remises, retours :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aucune preuve, aucune reprise.</a:t>
            </a:r>
          </a:p>
        </p:txBody>
      </p:sp>
      <p:sp>
        <p:nvSpPr>
          <p:cNvPr id="13" name="PB3"/>
          <p:cNvSpPr/>
          <p:nvPr/>
        </p:nvSpPr>
        <p:spPr>
          <a:xfrm>
            <a:off x="9006839" y="1874519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2011680"/>
            <a:ext cx="2240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C9A959"/>
                </a:solidFill>
                <a:latin typeface="Calibri"/>
              </a:rPr>
              <a:t>Pilotage impossible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Ni panier moyen, ni top ventes :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décisions à l'intuition.</a:t>
            </a:r>
          </a:p>
        </p:txBody>
      </p:sp>
      <p:sp>
        <p:nvSpPr>
          <p:cNvPr id="15" name="REFONTE"/>
          <p:cNvSpPr/>
          <p:nvPr/>
        </p:nvSpPr>
        <p:spPr>
          <a:xfrm>
            <a:off x="640080" y="4434840"/>
            <a:ext cx="10908792" cy="1691640"/>
          </a:xfrm>
          <a:prstGeom prst="roundRect">
            <a:avLst>
              <a:gd name="adj" fmla="val 7000"/>
            </a:avLst>
          </a:prstGeom>
          <a:solidFill>
            <a:srgbClr val="362D20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3ECDD"/>
                </a:solidFill>
                <a:latin typeface="Calibri"/>
              </a:rPr>
              <a:t>Décision : refonte totale — reconstruit de zéro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Ancien site vitrine sans vente ni gestion → nouveau socle, nouveau modèle, nouvelles interfaces. Zéro reprise de code. Comparatif page à page : Annexe A du rapport.</a:t>
            </a:r>
          </a:p>
        </p:txBody>
      </p:sp>
      <p:sp>
        <p:nvSpPr>
          <p:cNvPr id="17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8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02  ·  SOLUTION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Une plateforme, deux visages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02</a:t>
            </a:r>
          </a:p>
        </p:txBody>
      </p:sp>
      <p:sp>
        <p:nvSpPr>
          <p:cNvPr id="7" name="SOL0"/>
          <p:cNvSpPr/>
          <p:nvPr/>
        </p:nvSpPr>
        <p:spPr>
          <a:xfrm>
            <a:off x="640080" y="1828800"/>
            <a:ext cx="5349240" cy="429768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006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C9A959"/>
                </a:solidFill>
                <a:latin typeface="Calibri"/>
              </a:rPr>
              <a:t>Site marchand — public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3ECDD"/>
                </a:solidFill>
                <a:latin typeface="Calibri"/>
              </a:rPr>
              <a:t>•  Catalogue : 81 produits, 7 univers, 15 marques</a:t>
            </a:r>
            <a:br/>
            <a:r>
              <a:rPr sz="1500" b="0" i="0">
                <a:solidFill>
                  <a:srgbClr val="F3ECDD"/>
                </a:solidFill>
                <a:latin typeface="Calibri"/>
              </a:rPr>
              <a:t>•  Recherche à facettes, fiches, avis vérifiés</a:t>
            </a:r>
            <a:br/>
            <a:r>
              <a:rPr sz="1500" b="0" i="0">
                <a:solidFill>
                  <a:srgbClr val="F3ECDD"/>
                </a:solidFill>
                <a:latin typeface="Calibri"/>
              </a:rPr>
              <a:t>•  Panier, tunnel 4 étapes, paiement livraison</a:t>
            </a:r>
            <a:br/>
            <a:r>
              <a:rPr sz="1500" b="0" i="0">
                <a:solidFill>
                  <a:srgbClr val="F3ECDD"/>
                </a:solidFill>
                <a:latin typeface="Calibri"/>
              </a:rPr>
              <a:t>•  Compte client + suivi invité sécurisé</a:t>
            </a:r>
          </a:p>
        </p:txBody>
      </p:sp>
      <p:sp>
        <p:nvSpPr>
          <p:cNvPr id="9" name="SOL1"/>
          <p:cNvSpPr/>
          <p:nvPr/>
        </p:nvSpPr>
        <p:spPr>
          <a:xfrm>
            <a:off x="6199632" y="1828800"/>
            <a:ext cx="5349240" cy="429768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965960"/>
            <a:ext cx="48006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C9A959"/>
                </a:solidFill>
                <a:latin typeface="Calibri"/>
              </a:rPr>
              <a:t>Back-office — staff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3ECDD"/>
                </a:solidFill>
                <a:latin typeface="Calibri"/>
              </a:rPr>
              <a:t>•  Dashboard : KPI + file d'attention</a:t>
            </a:r>
            <a:br/>
            <a:r>
              <a:rPr sz="1500" b="0" i="0">
                <a:solidFill>
                  <a:srgbClr val="F3ECDD"/>
                </a:solidFill>
                <a:latin typeface="Calibri"/>
              </a:rPr>
              <a:t>•  Commandes, stock, promotions, clients</a:t>
            </a:r>
            <a:br/>
            <a:r>
              <a:rPr sz="1500" b="0" i="0">
                <a:solidFill>
                  <a:srgbClr val="F3ECDD"/>
                </a:solidFill>
                <a:latin typeface="Calibri"/>
              </a:rPr>
              <a:t>•  Avis, tickets support, journal, audit</a:t>
            </a:r>
            <a:br/>
            <a:r>
              <a:rPr sz="1500" b="0" i="0">
                <a:solidFill>
                  <a:srgbClr val="F3ECDD"/>
                </a:solidFill>
                <a:latin typeface="Calibri"/>
              </a:rPr>
              <a:t>•  Rôles admin / support, exports CSV</a:t>
            </a:r>
          </a:p>
        </p:txBody>
      </p:sp>
      <p:sp>
        <p:nvSpPr>
          <p:cNvPr id="11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2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02  ·  MÉTHODE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Scrum : 1 cadrage + 4 sprints, 2 releases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02</a:t>
            </a:r>
          </a:p>
        </p:txBody>
      </p:sp>
      <p:pic>
        <p:nvPicPr>
          <p:cNvPr id="7" name="SCRUM" descr="fig03_sc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7330"/>
            <a:ext cx="5120640" cy="3103418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8" name="REL1"/>
          <p:cNvSpPr/>
          <p:nvPr/>
        </p:nvSpPr>
        <p:spPr>
          <a:xfrm>
            <a:off x="6035040" y="1828800"/>
            <a:ext cx="2514600" cy="384048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965960"/>
            <a:ext cx="2148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Release 1</a:t>
            </a:r>
          </a:p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3ECDD"/>
                </a:solidFill>
                <a:latin typeface="Calibri"/>
              </a:rPr>
              <a:t>Cœur marchand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S1 — Socle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S2 — Commerce</a:t>
            </a:r>
          </a:p>
        </p:txBody>
      </p:sp>
      <p:sp>
        <p:nvSpPr>
          <p:cNvPr id="10" name="REL2"/>
          <p:cNvSpPr/>
          <p:nvPr/>
        </p:nvSpPr>
        <p:spPr>
          <a:xfrm>
            <a:off x="8778240" y="1828800"/>
            <a:ext cx="2770632" cy="384048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965960"/>
            <a:ext cx="240487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Release 2</a:t>
            </a:r>
          </a:p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3ECDD"/>
                </a:solidFill>
                <a:latin typeface="Calibri"/>
              </a:rPr>
              <a:t>Plateforme complète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S3 — Relation client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S4 — Recherche + 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806440"/>
            <a:ext cx="5513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B9AC93"/>
                </a:solidFill>
                <a:latin typeface="Calibri"/>
              </a:rPr>
              <a:t>Sprint 0 : acteurs, besoins, backlog (24 récits), planning, stack.</a:t>
            </a:r>
          </a:p>
        </p:txBody>
      </p:sp>
      <p:sp>
        <p:nvSpPr>
          <p:cNvPr id="13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4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02  ·  BESOINS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5 acteurs, 8 domaines, 24 récits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02</a:t>
            </a:r>
          </a:p>
        </p:txBody>
      </p:sp>
      <p:sp>
        <p:nvSpPr>
          <p:cNvPr id="7" name="ACT0"/>
          <p:cNvSpPr/>
          <p:nvPr/>
        </p:nvSpPr>
        <p:spPr>
          <a:xfrm>
            <a:off x="640080" y="1828800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9A959"/>
                </a:solidFill>
                <a:latin typeface="Calibri"/>
              </a:rPr>
              <a:t>Visiteur</a:t>
            </a:r>
          </a:p>
        </p:txBody>
      </p:sp>
      <p:sp>
        <p:nvSpPr>
          <p:cNvPr id="9" name="ACT1"/>
          <p:cNvSpPr/>
          <p:nvPr/>
        </p:nvSpPr>
        <p:spPr>
          <a:xfrm>
            <a:off x="2880360" y="1828800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993392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9A959"/>
                </a:solidFill>
                <a:latin typeface="Calibri"/>
              </a:rPr>
              <a:t>Client</a:t>
            </a:r>
          </a:p>
        </p:txBody>
      </p:sp>
      <p:sp>
        <p:nvSpPr>
          <p:cNvPr id="11" name="ACT2"/>
          <p:cNvSpPr/>
          <p:nvPr/>
        </p:nvSpPr>
        <p:spPr>
          <a:xfrm>
            <a:off x="5120640" y="1828800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993392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9A959"/>
                </a:solidFill>
                <a:latin typeface="Calibri"/>
              </a:rPr>
              <a:t>Invité</a:t>
            </a:r>
          </a:p>
        </p:txBody>
      </p:sp>
      <p:sp>
        <p:nvSpPr>
          <p:cNvPr id="13" name="ACT3"/>
          <p:cNvSpPr/>
          <p:nvPr/>
        </p:nvSpPr>
        <p:spPr>
          <a:xfrm>
            <a:off x="7360920" y="1828800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993392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9A959"/>
                </a:solidFill>
                <a:latin typeface="Calibri"/>
              </a:rPr>
              <a:t>Support</a:t>
            </a:r>
          </a:p>
        </p:txBody>
      </p:sp>
      <p:sp>
        <p:nvSpPr>
          <p:cNvPr id="15" name="ACT4"/>
          <p:cNvSpPr/>
          <p:nvPr/>
        </p:nvSpPr>
        <p:spPr>
          <a:xfrm>
            <a:off x="9601200" y="1828800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993392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9A959"/>
                </a:solidFill>
                <a:latin typeface="Calibri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10908792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3ECDD"/>
                </a:solidFill>
                <a:latin typeface="Calibri"/>
              </a:rPr>
              <a:t>•  Compte &amp; fidélité   •  Catalogue &amp; stock   •  Commandes &amp; suivi</a:t>
            </a:r>
            <a:br/>
            <a:r>
              <a:rPr sz="1600" b="0" i="0">
                <a:solidFill>
                  <a:srgbClr val="F3ECDD"/>
                </a:solidFill>
                <a:latin typeface="Calibri"/>
              </a:rPr>
              <a:t>•  Promotions   •  Avis &amp; support   •  Recherche &amp; journal</a:t>
            </a:r>
            <a:br/>
            <a:r>
              <a:rPr sz="1600" b="0" i="0">
                <a:solidFill>
                  <a:srgbClr val="F3ECDD"/>
                </a:solidFill>
                <a:latin typeface="Calibri"/>
              </a:rPr>
              <a:t>•  Administration &amp; audit   •  Exigences : sécurité, fiabilité, performance</a:t>
            </a:r>
          </a:p>
        </p:txBody>
      </p:sp>
      <p:sp>
        <p:nvSpPr>
          <p:cNvPr id="18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9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02  ·  TECHNOLOGIES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Une stack moderne, typée de bout en bout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02</a:t>
            </a:r>
          </a:p>
        </p:txBody>
      </p:sp>
      <p:sp>
        <p:nvSpPr>
          <p:cNvPr id="7" name="TEC0"/>
          <p:cNvSpPr/>
          <p:nvPr/>
        </p:nvSpPr>
        <p:spPr>
          <a:xfrm>
            <a:off x="640080" y="1828800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3317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Next.js 16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Framework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full-stack</a:t>
            </a:r>
          </a:p>
        </p:txBody>
      </p:sp>
      <p:sp>
        <p:nvSpPr>
          <p:cNvPr id="9" name="TEC1"/>
          <p:cNvSpPr/>
          <p:nvPr/>
        </p:nvSpPr>
        <p:spPr>
          <a:xfrm>
            <a:off x="3429000" y="1828800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23317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React 19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Interfaces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serveur + client</a:t>
            </a:r>
          </a:p>
        </p:txBody>
      </p:sp>
      <p:sp>
        <p:nvSpPr>
          <p:cNvPr id="11" name="TEC2"/>
          <p:cNvSpPr/>
          <p:nvPr/>
        </p:nvSpPr>
        <p:spPr>
          <a:xfrm>
            <a:off x="6217920" y="1828800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23317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TypeScript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Typage strict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zéro any</a:t>
            </a:r>
          </a:p>
        </p:txBody>
      </p:sp>
      <p:sp>
        <p:nvSpPr>
          <p:cNvPr id="13" name="TEC3"/>
          <p:cNvSpPr/>
          <p:nvPr/>
        </p:nvSpPr>
        <p:spPr>
          <a:xfrm>
            <a:off x="9006839" y="1828800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999" y="1965960"/>
            <a:ext cx="23317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PostgreSQL 18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24 tables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ACID</a:t>
            </a:r>
          </a:p>
        </p:txBody>
      </p:sp>
      <p:sp>
        <p:nvSpPr>
          <p:cNvPr id="15" name="TEC4"/>
          <p:cNvSpPr/>
          <p:nvPr/>
        </p:nvSpPr>
        <p:spPr>
          <a:xfrm>
            <a:off x="640080" y="3977639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23317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Drizzle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ORM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profils SQL</a:t>
            </a:r>
          </a:p>
        </p:txBody>
      </p:sp>
      <p:sp>
        <p:nvSpPr>
          <p:cNvPr id="17" name="TEC5"/>
          <p:cNvSpPr/>
          <p:nvPr/>
        </p:nvSpPr>
        <p:spPr>
          <a:xfrm>
            <a:off x="3429000" y="3977639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114800"/>
            <a:ext cx="23317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Zod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Validation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serveur</a:t>
            </a:r>
          </a:p>
        </p:txBody>
      </p:sp>
      <p:sp>
        <p:nvSpPr>
          <p:cNvPr id="19" name="TEC6"/>
          <p:cNvSpPr/>
          <p:nvPr/>
        </p:nvSpPr>
        <p:spPr>
          <a:xfrm>
            <a:off x="6217920" y="3977639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114800"/>
            <a:ext cx="23317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scrypt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Mots de passe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salés</a:t>
            </a:r>
          </a:p>
        </p:txBody>
      </p:sp>
      <p:sp>
        <p:nvSpPr>
          <p:cNvPr id="21" name="TEC7"/>
          <p:cNvSpPr/>
          <p:nvPr/>
        </p:nvSpPr>
        <p:spPr>
          <a:xfrm>
            <a:off x="9006839" y="3977639"/>
            <a:ext cx="2606040" cy="1874519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999" y="4114800"/>
            <a:ext cx="23317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Docker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Build &amp; run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reproductibles</a:t>
            </a:r>
          </a:p>
        </p:txBody>
      </p:sp>
      <p:sp>
        <p:nvSpPr>
          <p:cNvPr id="23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24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02  ·  ARCHITECTURE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Trois couches, un seul socle de vérité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02</a:t>
            </a:r>
          </a:p>
        </p:txBody>
      </p:sp>
      <p:pic>
        <p:nvPicPr>
          <p:cNvPr id="7" name="ARCHI" descr="fig20_archilogicie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346" y="1737360"/>
            <a:ext cx="6652259" cy="443484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8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9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02  ·  MODÈLE DE DONNÉES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24 tables, 10 énumérations, zéro incohérence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02</a:t>
            </a:r>
          </a:p>
        </p:txBody>
      </p:sp>
      <p:pic>
        <p:nvPicPr>
          <p:cNvPr id="7" name="MODELE" descr="figR1_mod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59" y="1737360"/>
            <a:ext cx="3403481" cy="443484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8" name="MODSTATS"/>
          <p:cNvSpPr/>
          <p:nvPr/>
        </p:nvSpPr>
        <p:spPr>
          <a:xfrm>
            <a:off x="7863840" y="1737360"/>
            <a:ext cx="3685032" cy="443484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874519"/>
            <a:ext cx="3227832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4000" b="1" i="0">
                <a:solidFill>
                  <a:srgbClr val="C9A959"/>
                </a:solidFill>
                <a:latin typeface="Georgia"/>
              </a:rPr>
              <a:t>24</a:t>
            </a:r>
          </a:p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3ECDD"/>
                </a:solidFill>
                <a:latin typeface="Calibri"/>
              </a:rPr>
              <a:t>tables + 10 énumérations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Montants en millimes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Unicités en base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Cascades référentielles</a:t>
            </a:r>
            <a:br/>
            <a:r>
              <a:rPr sz="1400" b="0" i="0">
                <a:solidFill>
                  <a:srgbClr val="B9AC93"/>
                </a:solidFill>
                <a:latin typeface="Calibri"/>
              </a:rPr>
              <a:t>Transactions verrouillées</a:t>
            </a:r>
          </a:p>
        </p:txBody>
      </p:sp>
      <p:sp>
        <p:nvSpPr>
          <p:cNvPr id="10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1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03  ·  SPRINT 1 — SOCLE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Connexion sécurisée, back-office, référentiels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03</a:t>
            </a:r>
          </a:p>
        </p:txBody>
      </p:sp>
      <p:pic>
        <p:nvPicPr>
          <p:cNvPr id="7" name="S1A" descr="fig35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1783080"/>
            <a:ext cx="4663440" cy="310896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pic>
        <p:nvPicPr>
          <p:cNvPr id="8" name="S1B" descr="fig43_dashboar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1783080"/>
            <a:ext cx="4663440" cy="310896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640080" y="5120640"/>
            <a:ext cx="109087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scrypt + sessions httpOnly 256 bits  ·  gardes requireUser / Staff / Admin  ·  anti-brute-force  ·  file d'attention</a:t>
            </a:r>
          </a:p>
        </p:txBody>
      </p:sp>
      <p:sp>
        <p:nvSpPr>
          <p:cNvPr id="10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1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03  ·  SPRINT 2 — COMMERCE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Catalogue, tunnel idempotent, cycle de vie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03</a:t>
            </a:r>
          </a:p>
        </p:txBody>
      </p:sp>
      <p:pic>
        <p:nvPicPr>
          <p:cNvPr id="7" name="S2A" descr="fig59_checkout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1783080"/>
            <a:ext cx="4663440" cy="310896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pic>
        <p:nvPicPr>
          <p:cNvPr id="8" name="S2B" descr="fig62_sui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1783080"/>
            <a:ext cx="4663440" cy="310896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640080" y="5120640"/>
            <a:ext cx="109087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Tunnel 4 étapes validées  ·  anti-double-commande (verrou + clé unique)  ·  machine à états 7 statuts  ·  timeline client</a:t>
            </a:r>
          </a:p>
        </p:txBody>
      </p:sp>
      <p:sp>
        <p:nvSpPr>
          <p:cNvPr id="10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1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03  ·  SPRINT 3 — RELATION CLIENT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Avis vérifiés, support tracé, confiance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03</a:t>
            </a:r>
          </a:p>
        </p:txBody>
      </p:sp>
      <p:pic>
        <p:nvPicPr>
          <p:cNvPr id="7" name="S3A" descr="fig69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1783080"/>
            <a:ext cx="4663440" cy="310896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pic>
        <p:nvPicPr>
          <p:cNvPr id="8" name="S3B" descr="fig71_ticket_re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1783080"/>
            <a:ext cx="4663440" cy="310896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640080" y="5120640"/>
            <a:ext cx="109087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Modération + réponse maison  ·  agrégation atomique (note jamais fausse)  ·  tickets SLA 24 h  ·  anti-spam</a:t>
            </a:r>
          </a:p>
        </p:txBody>
      </p:sp>
      <p:sp>
        <p:nvSpPr>
          <p:cNvPr id="10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1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03  ·  SPRINT 4 — FINITION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Recherche, journal, Docker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03</a:t>
            </a:r>
          </a:p>
        </p:txBody>
      </p:sp>
      <p:pic>
        <p:nvPicPr>
          <p:cNvPr id="7" name="S4A" descr="fig78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1783080"/>
            <a:ext cx="4663440" cy="310896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pic>
        <p:nvPicPr>
          <p:cNvPr id="8" name="S4B" descr="fig83_do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97627"/>
            <a:ext cx="5349240" cy="3079865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640080" y="5120640"/>
            <a:ext cx="109087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Recherche instantanée FR/AR + synonymes  ·  journal pharmaceutique  ·  build multi-stage  ·  seed de démo</a:t>
            </a:r>
          </a:p>
        </p:txBody>
      </p:sp>
      <p:sp>
        <p:nvSpPr>
          <p:cNvPr id="10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1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03  ·  REFONTE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Avant / Après : rien n'a été conservé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03</a:t>
            </a:r>
          </a:p>
        </p:txBody>
      </p:sp>
      <p:sp>
        <p:nvSpPr>
          <p:cNvPr id="7" name="AVA"/>
          <p:cNvSpPr/>
          <p:nvPr/>
        </p:nvSpPr>
        <p:spPr>
          <a:xfrm>
            <a:off x="640080" y="1783080"/>
            <a:ext cx="5349240" cy="68580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349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B9AC93"/>
                </a:solidFill>
                <a:latin typeface="Calibri"/>
              </a:rPr>
              <a:t>AVANT — ancien site</a:t>
            </a:r>
          </a:p>
        </p:txBody>
      </p:sp>
      <p:pic>
        <p:nvPicPr>
          <p:cNvPr id="9" name="AVANTIMG" descr="avant_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10196"/>
            <a:ext cx="5349240" cy="2917767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10" name="APA"/>
          <p:cNvSpPr/>
          <p:nvPr/>
        </p:nvSpPr>
        <p:spPr>
          <a:xfrm>
            <a:off x="6199632" y="1783080"/>
            <a:ext cx="5349240" cy="685800"/>
          </a:xfrm>
          <a:prstGeom prst="roundRect">
            <a:avLst>
              <a:gd name="adj" fmla="val 7000"/>
            </a:avLst>
          </a:prstGeom>
          <a:solidFill>
            <a:srgbClr val="362D20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874519"/>
            <a:ext cx="5349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9A959"/>
                </a:solidFill>
                <a:latin typeface="Calibri"/>
              </a:rPr>
              <a:t>APRÈS — plateforme livrée</a:t>
            </a:r>
          </a:p>
        </p:txBody>
      </p:sp>
      <p:pic>
        <p:nvPicPr>
          <p:cNvPr id="12" name="APRESIMG" descr="fig85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560320"/>
            <a:ext cx="4526280" cy="301752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B9AC93"/>
                </a:solidFill>
                <a:latin typeface="Calibri"/>
              </a:rPr>
              <a:t>Insérez votre capture « avant » dans le cadre de gauche — Annexe A du rapport.</a:t>
            </a:r>
          </a:p>
        </p:txBody>
      </p:sp>
      <p:sp>
        <p:nvSpPr>
          <p:cNvPr id="14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5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04  ·  SÉCURITÉ &amp; FIABILITÉ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Six garanties non négociables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04</a:t>
            </a:r>
          </a:p>
        </p:txBody>
      </p:sp>
      <p:sp>
        <p:nvSpPr>
          <p:cNvPr id="7" name="SEC0"/>
          <p:cNvSpPr/>
          <p:nvPr/>
        </p:nvSpPr>
        <p:spPr>
          <a:xfrm>
            <a:off x="640080" y="1828800"/>
            <a:ext cx="3547872" cy="192024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31821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Argent exact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Millimes entiers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jamais de flottants</a:t>
            </a:r>
          </a:p>
        </p:txBody>
      </p:sp>
      <p:sp>
        <p:nvSpPr>
          <p:cNvPr id="9" name="SEC1"/>
          <p:cNvSpPr/>
          <p:nvPr/>
        </p:nvSpPr>
        <p:spPr>
          <a:xfrm>
            <a:off x="4370832" y="1828800"/>
            <a:ext cx="3547872" cy="192024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1821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Secrets protégés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scrypt salé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sessions httpOnly</a:t>
            </a:r>
          </a:p>
        </p:txBody>
      </p:sp>
      <p:sp>
        <p:nvSpPr>
          <p:cNvPr id="11" name="SEC2"/>
          <p:cNvSpPr/>
          <p:nvPr/>
        </p:nvSpPr>
        <p:spPr>
          <a:xfrm>
            <a:off x="8101583" y="1828800"/>
            <a:ext cx="3547872" cy="192024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3" y="2011680"/>
            <a:ext cx="31821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Accès contrôlés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Gardes serveur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rôles cumulatifs</a:t>
            </a:r>
          </a:p>
        </p:txBody>
      </p:sp>
      <p:sp>
        <p:nvSpPr>
          <p:cNvPr id="13" name="SEC3"/>
          <p:cNvSpPr/>
          <p:nvPr/>
        </p:nvSpPr>
        <p:spPr>
          <a:xfrm>
            <a:off x="640080" y="4023360"/>
            <a:ext cx="3547872" cy="192024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31821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Stocks sûrs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Verrous FOR UPDATE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jamais négatifs</a:t>
            </a:r>
          </a:p>
        </p:txBody>
      </p:sp>
      <p:sp>
        <p:nvSpPr>
          <p:cNvPr id="15" name="SEC4"/>
          <p:cNvSpPr/>
          <p:nvPr/>
        </p:nvSpPr>
        <p:spPr>
          <a:xfrm>
            <a:off x="4370832" y="4023360"/>
            <a:ext cx="3547872" cy="192024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4206240"/>
            <a:ext cx="31821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Clics uniques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Idempotence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zéro doublon</a:t>
            </a:r>
          </a:p>
        </p:txBody>
      </p:sp>
      <p:sp>
        <p:nvSpPr>
          <p:cNvPr id="17" name="SEC5"/>
          <p:cNvSpPr/>
          <p:nvPr/>
        </p:nvSpPr>
        <p:spPr>
          <a:xfrm>
            <a:off x="8101583" y="4023360"/>
            <a:ext cx="3547872" cy="192024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4206240"/>
            <a:ext cx="31821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C9A959"/>
                </a:solidFill>
                <a:latin typeface="Calibri"/>
              </a:rPr>
              <a:t>Tout est tracé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Audit staff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timeline client</a:t>
            </a:r>
          </a:p>
        </p:txBody>
      </p:sp>
      <p:sp>
        <p:nvSpPr>
          <p:cNvPr id="19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20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05  ·  BILAN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Livré, démontré, accepté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05</a:t>
            </a:r>
          </a:p>
        </p:txBody>
      </p:sp>
      <p:sp>
        <p:nvSpPr>
          <p:cNvPr id="7" name="BIL0"/>
          <p:cNvSpPr/>
          <p:nvPr/>
        </p:nvSpPr>
        <p:spPr>
          <a:xfrm>
            <a:off x="640080" y="1874519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2240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 i="0">
                <a:solidFill>
                  <a:srgbClr val="C9A959"/>
                </a:solidFill>
                <a:latin typeface="Georgia"/>
              </a:rPr>
              <a:t>24/24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récits terminés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2 releases acceptées</a:t>
            </a:r>
          </a:p>
        </p:txBody>
      </p:sp>
      <p:sp>
        <p:nvSpPr>
          <p:cNvPr id="9" name="BIL1"/>
          <p:cNvSpPr/>
          <p:nvPr/>
        </p:nvSpPr>
        <p:spPr>
          <a:xfrm>
            <a:off x="3429000" y="1874519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011680"/>
            <a:ext cx="2240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 i="0">
                <a:solidFill>
                  <a:srgbClr val="C9A959"/>
                </a:solidFill>
                <a:latin typeface="Georgia"/>
              </a:rPr>
              <a:t>81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produits en ligne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8 marques, 7 univers</a:t>
            </a:r>
          </a:p>
        </p:txBody>
      </p:sp>
      <p:sp>
        <p:nvSpPr>
          <p:cNvPr id="11" name="BIL2"/>
          <p:cNvSpPr/>
          <p:nvPr/>
        </p:nvSpPr>
        <p:spPr>
          <a:xfrm>
            <a:off x="6217920" y="1874519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2240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 i="0">
                <a:solidFill>
                  <a:srgbClr val="C9A959"/>
                </a:solidFill>
                <a:latin typeface="Georgia"/>
              </a:rPr>
              <a:t>24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tables + audit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10 énumérations</a:t>
            </a:r>
          </a:p>
        </p:txBody>
      </p:sp>
      <p:sp>
        <p:nvSpPr>
          <p:cNvPr id="13" name="BIL3"/>
          <p:cNvSpPr/>
          <p:nvPr/>
        </p:nvSpPr>
        <p:spPr>
          <a:xfrm>
            <a:off x="9006839" y="1874519"/>
            <a:ext cx="2606040" cy="219456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2011680"/>
            <a:ext cx="2240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 i="0">
                <a:solidFill>
                  <a:srgbClr val="C9A959"/>
                </a:solidFill>
                <a:latin typeface="Georgia"/>
              </a:rPr>
              <a:t>104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3ECDD"/>
                </a:solidFill>
                <a:latin typeface="Calibri"/>
              </a:rPr>
              <a:t>pages de rapport</a:t>
            </a:r>
            <a:br/>
            <a:r>
              <a:rPr sz="1400" b="0" i="0">
                <a:solidFill>
                  <a:srgbClr val="F3ECDD"/>
                </a:solidFill>
                <a:latin typeface="Calibri"/>
              </a:rPr>
              <a:t>94 figures, 40 tableaux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90879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B9AC93"/>
                </a:solidFill>
                <a:latin typeface="Calibri"/>
              </a:rPr>
              <a:t>Démonstrations réelles à chaque revue  ·  recette Docker reproductible  ·  apports personnels : full-stack, Scrum, rédaction</a:t>
            </a:r>
          </a:p>
        </p:txBody>
      </p:sp>
      <p:sp>
        <p:nvSpPr>
          <p:cNvPr id="16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7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05  ·  DÉMONSTRATION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La preuve par l'écran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05</a:t>
            </a:r>
          </a:p>
        </p:txBody>
      </p:sp>
      <p:sp>
        <p:nvSpPr>
          <p:cNvPr id="7" name="DEMOL"/>
          <p:cNvSpPr/>
          <p:nvPr/>
        </p:nvSpPr>
        <p:spPr>
          <a:xfrm>
            <a:off x="640080" y="1828800"/>
            <a:ext cx="6675120" cy="429768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61264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9A959"/>
                </a:solidFill>
                <a:latin typeface="Calibri"/>
              </a:rPr>
              <a:t>Scénario — 6 minutes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3ECDD"/>
                </a:solidFill>
                <a:latin typeface="Calibri"/>
              </a:rPr>
              <a:t>1. Acheter : recherche « solaire », fiche produit, panier, tunnel, confirmation.</a:t>
            </a:r>
            <a:br/>
            <a:r>
              <a:rPr sz="1500" b="0" i="0">
                <a:solidFill>
                  <a:srgbClr val="F3ECDD"/>
                </a:solidFill>
                <a:latin typeface="Calibri"/>
              </a:rPr>
              <a:t>2. Piloter : la commande tombe au dashboard, avance Confirmée → Expédiée.</a:t>
            </a:r>
            <a:br/>
            <a:r>
              <a:rPr sz="1500" b="0" i="0">
                <a:solidFill>
                  <a:srgbClr val="F3ECDD"/>
                </a:solidFill>
                <a:latin typeface="Calibri"/>
              </a:rPr>
              <a:t>3. Rassurer : timeline client, avis modéré, ticket support clôturé.</a:t>
            </a:r>
          </a:p>
        </p:txBody>
      </p:sp>
      <p:sp>
        <p:nvSpPr>
          <p:cNvPr id="9" name="DEMOR"/>
          <p:cNvSpPr/>
          <p:nvPr/>
        </p:nvSpPr>
        <p:spPr>
          <a:xfrm>
            <a:off x="7589520" y="1828800"/>
            <a:ext cx="3685032" cy="4297680"/>
          </a:xfrm>
          <a:prstGeom prst="roundRect">
            <a:avLst>
              <a:gd name="adj" fmla="val 7000"/>
            </a:avLst>
          </a:prstGeom>
          <a:solidFill>
            <a:srgbClr val="2C251B"/>
          </a:solidFill>
          <a:ln w="12700">
            <a:solidFill>
              <a:srgbClr val="9A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965960"/>
            <a:ext cx="3227832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C9A959"/>
                </a:solidFill>
                <a:latin typeface="Calibri"/>
              </a:rPr>
              <a:t>Accès recette</a:t>
            </a:r>
          </a:p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[Collez ici le QR]</a:t>
            </a:r>
          </a:p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3ECDD"/>
                </a:solidFill>
                <a:latin typeface="Calibri"/>
              </a:rPr>
              <a:t>https://[recette].tn</a:t>
            </a:r>
          </a:p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B9AC93"/>
                </a:solidFill>
                <a:latin typeface="Calibri"/>
              </a:rPr>
              <a:t>client : [e-mail] / [mdp]</a:t>
            </a:r>
            <a:br/>
            <a:r>
              <a:rPr sz="1300" b="0" i="0">
                <a:solidFill>
                  <a:srgbClr val="B9AC93"/>
                </a:solidFill>
                <a:latin typeface="Calibri"/>
              </a:rPr>
              <a:t>admin : [e-mail] / [mdp]</a:t>
            </a:r>
          </a:p>
        </p:txBody>
      </p:sp>
      <p:sp>
        <p:nvSpPr>
          <p:cNvPr id="11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</a:t>
            </a:r>
          </a:p>
        </p:txBody>
      </p:sp>
      <p:sp>
        <p:nvSpPr>
          <p:cNvPr id="12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FRAME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5400">
            <a:solidFill>
              <a:srgbClr val="C9A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FRAME"/>
          <p:cNvSpPr/>
          <p:nvPr/>
        </p:nvSpPr>
        <p:spPr>
          <a:xfrm>
            <a:off x="237744" y="237744"/>
            <a:ext cx="11716207" cy="6382512"/>
          </a:xfrm>
          <a:prstGeom prst="rect">
            <a:avLst/>
          </a:prstGeom>
          <a:noFill/>
          <a:ln w="9525">
            <a:solidFill>
              <a:srgbClr val="C9A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EYE"/>
          <p:cNvSpPr txBox="1"/>
          <p:nvPr/>
        </p:nvSpPr>
        <p:spPr>
          <a:xfrm>
            <a:off x="914400" y="1097280"/>
            <a:ext cx="10360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05  ·  PERSPECTIVES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914400" y="14630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800" b="1" i="0">
                <a:solidFill>
                  <a:srgbClr val="F3ECDD"/>
                </a:solidFill>
                <a:latin typeface="Georgia"/>
              </a:rPr>
              <a:t>Merci de votre attention</a:t>
            </a:r>
          </a:p>
        </p:txBody>
      </p:sp>
      <p:sp>
        <p:nvSpPr>
          <p:cNvPr id="7" name="!!RULE"/>
          <p:cNvSpPr/>
          <p:nvPr/>
        </p:nvSpPr>
        <p:spPr>
          <a:xfrm>
            <a:off x="5641848" y="2514600"/>
            <a:ext cx="91440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834640"/>
            <a:ext cx="76169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B9AC93"/>
                </a:solidFill>
                <a:latin typeface="Calibri"/>
              </a:rPr>
              <a:t>Paiement en ligne  ·  version arabe complète  ·  recommandations personnalisées  ·  application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114800"/>
            <a:ext cx="7616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C9A959"/>
                </a:solidFill>
                <a:latin typeface="Georgia"/>
              </a:rPr>
              <a:t>Je réponds à vos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029200"/>
            <a:ext cx="76169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B9AC93"/>
                </a:solidFill>
                <a:latin typeface="Calibri"/>
              </a:rPr>
              <a:t>[Nom Prénom]  ·  [e-mail]  ·  [téléphone]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ANNEXE A1  ·  SECOURS JURY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Cycle de vie d'une commande — machine à états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A1</a:t>
            </a:r>
          </a:p>
        </p:txBody>
      </p:sp>
      <p:pic>
        <p:nvPicPr>
          <p:cNvPr id="7" name="BK1" descr="fig49_state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072" y="1737360"/>
            <a:ext cx="8608807" cy="443484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8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 — Annexe jury</a:t>
            </a:r>
          </a:p>
        </p:txBody>
      </p:sp>
      <p:sp>
        <p:nvSpPr>
          <p:cNvPr id="9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ANNEXE A2  ·  SECOURS JURY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Sécurité — hachage, sessions, rôles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A2</a:t>
            </a:r>
          </a:p>
        </p:txBody>
      </p:sp>
      <p:pic>
        <p:nvPicPr>
          <p:cNvPr id="7" name="BK2A" descr="fig23_scry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7994"/>
            <a:ext cx="5349240" cy="259357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pic>
        <p:nvPicPr>
          <p:cNvPr id="8" name="BK2B" descr="fig24_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495896"/>
            <a:ext cx="5349240" cy="2917767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9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 — Annexe jury</a:t>
            </a:r>
          </a:p>
        </p:txBody>
      </p:sp>
      <p:sp>
        <p:nvSpPr>
          <p:cNvPr id="10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ANNEXE A3  ·  SECOURS JURY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Modèle global — relation client, contenu, pilotage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A3</a:t>
            </a:r>
          </a:p>
        </p:txBody>
      </p:sp>
      <p:pic>
        <p:nvPicPr>
          <p:cNvPr id="7" name="BK3" descr="figGX_mod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821" y="1737360"/>
            <a:ext cx="3851308" cy="443484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8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 — Annexe jury</a:t>
            </a:r>
          </a:p>
        </p:txBody>
      </p:sp>
      <p:sp>
        <p:nvSpPr>
          <p:cNvPr id="9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EYE"/>
          <p:cNvSpPr txBox="1"/>
          <p:nvPr/>
        </p:nvSpPr>
        <p:spPr>
          <a:xfrm>
            <a:off x="640080" y="292608"/>
            <a:ext cx="9509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9A959"/>
                </a:solidFill>
                <a:latin typeface="Calibri"/>
              </a:rPr>
              <a:t>ANNEXE A4  ·  SECOURS JURY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40080" y="65836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3ECDD"/>
                </a:solidFill>
                <a:latin typeface="Georgia"/>
              </a:rPr>
              <a:t>Mise en production — conteneurs et recette</a:t>
            </a:r>
          </a:p>
        </p:txBody>
      </p:sp>
      <p:sp>
        <p:nvSpPr>
          <p:cNvPr id="5" name="!!RULE"/>
          <p:cNvSpPr/>
          <p:nvPr/>
        </p:nvSpPr>
        <p:spPr>
          <a:xfrm>
            <a:off x="640080" y="1481328"/>
            <a:ext cx="1463040" cy="38100"/>
          </a:xfrm>
          <a:prstGeom prst="rect">
            <a:avLst/>
          </a:prstGeom>
          <a:solidFill>
            <a:srgbClr val="C9A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GHOST"/>
          <p:cNvSpPr txBox="1"/>
          <p:nvPr/>
        </p:nvSpPr>
        <p:spPr>
          <a:xfrm>
            <a:off x="10287000" y="256032"/>
            <a:ext cx="1325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200" b="1" i="0">
                <a:solidFill>
                  <a:srgbClr val="5A4C24"/>
                </a:solidFill>
                <a:latin typeface="Georgia"/>
              </a:rPr>
              <a:t>A4</a:t>
            </a:r>
          </a:p>
        </p:txBody>
      </p:sp>
      <p:pic>
        <p:nvPicPr>
          <p:cNvPr id="7" name="BK4" descr="fig19_deploi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958" y="1737360"/>
            <a:ext cx="6969034" cy="4434840"/>
          </a:xfrm>
          <a:ln w="15875">
            <a:solidFill>
              <a:srgbClr val="9A7B3F"/>
            </a:solidFill>
          </a:ln>
          <a:prstGeom prst="roundRect">
            <a:avLst>
              <a:gd name="adj" fmla="val 9000"/>
            </a:avLst>
          </a:prstGeom>
        </p:spPr>
      </p:pic>
      <p:sp>
        <p:nvSpPr>
          <p:cNvPr id="8" name="!!FOOT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Cléopâtre · Soutenance PFE — Annexe jury</a:t>
            </a:r>
          </a:p>
        </p:txBody>
      </p:sp>
      <p:sp>
        <p:nvSpPr>
          <p:cNvPr id="9" name="!!NUM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B9AC93"/>
                </a:solidFill>
                <a:latin typeface="Calibri"/>
              </a:rPr>
              <a:t>A4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med" advOnClk="1" p14:dur="900">
        <p159:morph option="byObject"/>
      </p:transition>
    </mc:Choice>
    <mc:Fallback>
      <p:transition spd="med"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PFE — Plateforme e-commerce Cléopâtre</dc:title>
  <dc:subject>Diaporama de soutenance — transitions Morph</dc:subject>
  <dc:creator>[Nom Prénom de l'étudiant(e)]</dc:creator>
  <cp:keywords>PFE, Cléopâtre, e-commerce, Scrum, soutenance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